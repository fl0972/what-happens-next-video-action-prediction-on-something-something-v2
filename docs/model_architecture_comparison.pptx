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Architecture Comparison — TSM-Ultra-v2  vs  VFL-Ultra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A84F"/>
                </a:solidFill>
                <a:latin typeface="Calibri"/>
              </a:rPr>
              <a:t>TSM_ultra  (TSMResNet)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6035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7CC3"/>
                </a:solidFill>
                <a:latin typeface="Calibri"/>
              </a:rPr>
              <a:t>VFL_ultra  (VideoFormer-Lite)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992"/>
            <a:ext cx="5120640" cy="446024"/>
          </a:xfrm>
          <a:prstGeom prst="roundRect">
            <a:avLst/>
          </a:prstGeom>
          <a:solidFill>
            <a:srgbClr val="CFE2F3"/>
          </a:solidFill>
          <a:ln w="1397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Input   (B, 4, 3, 224, 224)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81527" y="1529588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25600"/>
            <a:ext cx="5120640" cy="446024"/>
          </a:xfrm>
          <a:prstGeom prst="roundRect">
            <a:avLst/>
          </a:prstGeom>
          <a:solidFill>
            <a:srgbClr val="D0E0E3"/>
          </a:solidFill>
          <a:ln w="1397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Reshape  -&gt;  (B·T, 3, 224, 224)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81527" y="2076195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72208"/>
            <a:ext cx="5120640" cy="446024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Stem:  Conv 7×7 /2 - BN - ReLU - MaxPool /2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081527" y="2622804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718816"/>
            <a:ext cx="1014984" cy="446024"/>
          </a:xfrm>
          <a:prstGeom prst="roundRect">
            <a:avLst/>
          </a:prstGeom>
          <a:solidFill>
            <a:srgbClr val="D9EAD3"/>
          </a:solidFill>
          <a:ln w="1397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TSM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fold_div=4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5064" y="2718816"/>
            <a:ext cx="4059936" cy="446024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Layer1  ·  2× BasicBlock (64 ch)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shift 16 ch  (1/4 +1f, 1/4 −1f)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81527" y="3169412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265424"/>
            <a:ext cx="1014984" cy="446024"/>
          </a:xfrm>
          <a:prstGeom prst="roundRect">
            <a:avLst/>
          </a:prstGeom>
          <a:solidFill>
            <a:srgbClr val="D9EAD3"/>
          </a:solidFill>
          <a:ln w="1397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TSM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fold_div=4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5064" y="3265424"/>
            <a:ext cx="4059936" cy="446024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Layer2  ·  2× BasicBlock (128 ch) /2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shift 32 ch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081527" y="3716020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812032"/>
            <a:ext cx="1014984" cy="446024"/>
          </a:xfrm>
          <a:prstGeom prst="roundRect">
            <a:avLst/>
          </a:prstGeom>
          <a:solidFill>
            <a:srgbClr val="D9EAD3"/>
          </a:solidFill>
          <a:ln w="1397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TSM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fold_div=4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5064" y="3812032"/>
            <a:ext cx="4059936" cy="446024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Layer3  ·  2× BasicBlock (256 ch) /2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shift 64 ch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081527" y="4262628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358640"/>
            <a:ext cx="1014984" cy="446024"/>
          </a:xfrm>
          <a:prstGeom prst="roundRect">
            <a:avLst/>
          </a:prstGeom>
          <a:solidFill>
            <a:srgbClr val="D9EAD3"/>
          </a:solidFill>
          <a:ln w="1397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TSM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fold_div=4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55064" y="4358640"/>
            <a:ext cx="4059936" cy="446024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Layer4  ·  2× BasicBlock (512 ch) /2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shift 128 ch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081527" y="4809236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4905248"/>
            <a:ext cx="5120640" cy="446024"/>
          </a:xfrm>
          <a:prstGeom prst="roundRect">
            <a:avLst/>
          </a:prstGeom>
          <a:solidFill>
            <a:srgbClr val="D0E0E3"/>
          </a:solidFill>
          <a:ln w="1397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Global Avg Pool  -&gt;  mean over T  -&gt;  (B, 512)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081527" y="5355844"/>
            <a:ext cx="146304" cy="82296"/>
          </a:xfrm>
          <a:prstGeom prst="downArrow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451856"/>
            <a:ext cx="5120640" cy="446024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CC4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Dropout(0.3)  +  Linear(512 -&gt; 33)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078992"/>
            <a:ext cx="5120640" cy="391363"/>
          </a:xfrm>
          <a:prstGeom prst="roundRect">
            <a:avLst/>
          </a:prstGeom>
          <a:solidFill>
            <a:srgbClr val="CFE2F3"/>
          </a:solidFill>
          <a:ln w="1397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Input   (B, 4, 3, 224, 224)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933688" y="1474927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1570939"/>
            <a:ext cx="5120640" cy="391363"/>
          </a:xfrm>
          <a:prstGeom prst="roundRect">
            <a:avLst/>
          </a:prstGeom>
          <a:solidFill>
            <a:srgbClr val="D0E0E3"/>
          </a:solidFill>
          <a:ln w="1397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Reshape  -&gt;  (B·T, 3, 224, 224)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933688" y="1966874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2062886"/>
            <a:ext cx="5120640" cy="391363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ResNet18 Backbone  (NO temporal shift)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stem · Layer1–4 (2× BasicBlock each)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33688" y="2458821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2554833"/>
            <a:ext cx="5120640" cy="391363"/>
          </a:xfrm>
          <a:prstGeom prst="roundRect">
            <a:avLst/>
          </a:prstGeom>
          <a:solidFill>
            <a:srgbClr val="D0E0E3"/>
          </a:solidFill>
          <a:ln w="1397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Global Avg Pool  -&gt;  (B·T, 512)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933688" y="2950768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3046780"/>
            <a:ext cx="5120640" cy="391363"/>
          </a:xfrm>
          <a:prstGeom prst="roundRect">
            <a:avLst/>
          </a:prstGeom>
          <a:solidFill>
            <a:srgbClr val="D0E0E3"/>
          </a:solidFill>
          <a:ln w="1397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Reshape  -&gt;  Frame tokens  (B, 4, 512)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933688" y="3442716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3538728"/>
            <a:ext cx="5120640" cy="391363"/>
          </a:xfrm>
          <a:prstGeom prst="roundRect">
            <a:avLst/>
          </a:prstGeom>
          <a:solidFill>
            <a:srgbClr val="ECECEC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Prepend [CLS]  +  Temporal Pos. Embed  -&gt;  (B, 5, 512)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8933688" y="3934663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6520" y="4030675"/>
            <a:ext cx="5120640" cy="391363"/>
          </a:xfrm>
          <a:prstGeom prst="roundRect">
            <a:avLst/>
          </a:prstGeom>
          <a:solidFill>
            <a:srgbClr val="D9D2E9"/>
          </a:solidFill>
          <a:ln w="1397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Transformer Block 1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MHSA (8 heads) + MLP(2048), Pre-LN, DropPath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8933688" y="4426610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4522622"/>
            <a:ext cx="5120640" cy="391363"/>
          </a:xfrm>
          <a:prstGeom prst="roundRect">
            <a:avLst/>
          </a:prstGeom>
          <a:solidFill>
            <a:srgbClr val="D9D2E9"/>
          </a:solidFill>
          <a:ln w="1397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Transformer Block 2</a:t>
            </a:r>
          </a:p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MHSA (8 heads) + MLP(2048), Pre-LN, DropPath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8933688" y="4918557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46520" y="5014569"/>
            <a:ext cx="5120640" cy="391363"/>
          </a:xfrm>
          <a:prstGeom prst="roundRect">
            <a:avLst/>
          </a:prstGeom>
          <a:solidFill>
            <a:srgbClr val="ECECEC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Extract [CLS]  -&gt;  LayerNorm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8933688" y="5410504"/>
            <a:ext cx="146304" cy="82296"/>
          </a:xfrm>
          <a:prstGeom prst="downArrow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5506516"/>
            <a:ext cx="5120640" cy="391363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CC4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222222"/>
                </a:solidFill>
                <a:latin typeface="Calibri"/>
              </a:rPr>
              <a:t>Dropout(0.2)  +  Linear(512 -&gt; 33)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952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07070"/>
                </a:solidFill>
                <a:latin typeface="Calibri"/>
              </a:rPr>
              <a:t>~11.2 M params  ·  StochDepth 0→0.1  ·  Focal(γ=2)+LS 0.1  ·  AdamW lr=1e-3  ·  57.7% int. 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952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07070"/>
                </a:solidFill>
                <a:latin typeface="Calibri"/>
              </a:rPr>
              <a:t>~17.5 M params (6.3 M Transformer)  ·  StochDepth 0→0.15  ·  CE+LS 0.1  ·  AdamW lr=5e-4  ·  53.4% int. val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6345936"/>
            <a:ext cx="182880" cy="146304"/>
          </a:xfrm>
          <a:prstGeom prst="rect">
            <a:avLst/>
          </a:prstGeom>
          <a:solidFill>
            <a:srgbClr val="CFE2F3"/>
          </a:solidFill>
          <a:ln w="1270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97864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Input / Output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39" y="6345936"/>
            <a:ext cx="182880" cy="146304"/>
          </a:xfrm>
          <a:prstGeom prst="rect">
            <a:avLst/>
          </a:prstGeom>
          <a:solidFill>
            <a:srgbClr val="FCE5CD"/>
          </a:solidFill>
          <a:ln w="12700">
            <a:solidFill>
              <a:srgbClr val="E69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58183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CNN / ResNet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59" y="6345936"/>
            <a:ext cx="182880" cy="146304"/>
          </a:xfrm>
          <a:prstGeom prst="rect">
            <a:avLst/>
          </a:prstGeom>
          <a:solidFill>
            <a:srgbClr val="D9EAD3"/>
          </a:solidFill>
          <a:ln w="1270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503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Temporal Shift (TSM)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80" y="6345936"/>
            <a:ext cx="182880" cy="146304"/>
          </a:xfrm>
          <a:prstGeom prst="rect">
            <a:avLst/>
          </a:prstGeom>
          <a:solidFill>
            <a:srgbClr val="D0E0E3"/>
          </a:solidFill>
          <a:ln w="12700">
            <a:solidFill>
              <a:srgbClr val="458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8824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Reshape / Pooling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40280" y="6620255"/>
            <a:ext cx="182880" cy="146304"/>
          </a:xfrm>
          <a:prstGeom prst="rect">
            <a:avLst/>
          </a:prstGeom>
          <a:solidFill>
            <a:srgbClr val="D9D2E9"/>
          </a:solidFill>
          <a:ln w="1270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78024" y="6565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Transformer (VFL)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6620255"/>
            <a:ext cx="182880" cy="146304"/>
          </a:xfrm>
          <a:prstGeom prst="rect">
            <a:avLst/>
          </a:prstGeom>
          <a:solidFill>
            <a:srgbClr val="ECECEC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38344" y="6565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Learnable Embeddings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6620255"/>
            <a:ext cx="182880" cy="146304"/>
          </a:xfrm>
          <a:prstGeom prst="rect">
            <a:avLst/>
          </a:prstGeom>
          <a:solidFill>
            <a:srgbClr val="F4CCCC"/>
          </a:solidFill>
          <a:ln w="12700">
            <a:solidFill>
              <a:srgbClr val="CC41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98664" y="6565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Classifier 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